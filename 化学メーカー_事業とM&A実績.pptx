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3366"/>
                </a:solidFill>
              </a:defRPr>
            </a:pPr>
            <a:r>
              <a:t>主要化学メーカーの事業概要とM&amp;A実績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666666"/>
                </a:solidFill>
              </a:defRPr>
            </a:pPr>
            <a:r>
              <a:t>2024-2026年の動向分析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目次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6400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0"/>
              </a:spcAft>
              <a:defRPr sz="2400">
                <a:solidFill>
                  <a:srgbClr val="333333"/>
                </a:solidFill>
              </a:defRPr>
            </a:pPr>
            <a:r>
              <a:t>1. 日本の主要化学メーカー</a:t>
            </a:r>
          </a:p>
          <a:p>
            <a:pPr>
              <a:spcAft>
                <a:spcPts val="2000"/>
              </a:spcAft>
              <a:defRPr sz="2400">
                <a:solidFill>
                  <a:srgbClr val="333333"/>
                </a:solidFill>
              </a:defRPr>
            </a:pPr>
            <a:r>
              <a:t>2. グローバル大手化学メーカー</a:t>
            </a:r>
          </a:p>
          <a:p>
            <a:pPr>
              <a:spcAft>
                <a:spcPts val="2000"/>
              </a:spcAft>
              <a:defRPr sz="2400">
                <a:solidFill>
                  <a:srgbClr val="333333"/>
                </a:solidFill>
              </a:defRPr>
            </a:pPr>
            <a:r>
              <a:t>3. 化学業界のM&amp;A動向</a:t>
            </a:r>
          </a:p>
          <a:p>
            <a:pPr>
              <a:spcAft>
                <a:spcPts val="2000"/>
              </a:spcAft>
              <a:defRPr sz="2400">
                <a:solidFill>
                  <a:srgbClr val="333333"/>
                </a:solidFill>
              </a:defRPr>
            </a:pPr>
            <a:r>
              <a:t>4. 主要M&amp;A事例（2024-2025年）</a:t>
            </a:r>
          </a:p>
          <a:p>
            <a:pPr>
              <a:spcAft>
                <a:spcPts val="2000"/>
              </a:spcAft>
              <a:defRPr sz="2400">
                <a:solidFill>
                  <a:srgbClr val="333333"/>
                </a:solidFill>
              </a:defRPr>
            </a:pPr>
            <a:r>
              <a:t>5. まとめと今後の展望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日本の主要化学メーカー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384048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66CC"/>
                </a:solidFill>
              </a:defRPr>
            </a:pPr>
            <a:r>
              <a:t>三菱ケミカルグループ</a:t>
            </a:r>
          </a:p>
          <a:p>
            <a:pPr>
              <a:spcAft>
                <a:spcPts val="800"/>
              </a:spcAft>
              <a:defRPr sz="1400"/>
            </a:pPr>
            <a:r>
              <a:t>• 国内最大手の総合化学メーカー</a:t>
            </a:r>
          </a:p>
          <a:p>
            <a:pPr>
              <a:spcAft>
                <a:spcPts val="800"/>
              </a:spcAft>
              <a:defRPr sz="1400"/>
            </a:pPr>
            <a:r>
              <a:t>• M&amp;Aによる成長戦略を推進</a:t>
            </a:r>
          </a:p>
          <a:p>
            <a:pPr>
              <a:spcAft>
                <a:spcPts val="800"/>
              </a:spcAft>
              <a:defRPr sz="1400"/>
            </a:pPr>
            <a:r>
              <a:t>• 2026年3月期：田辺三菱製薬譲渡により純利益3.2倍を見込む</a:t>
            </a:r>
          </a:p>
          <a:p>
            <a:pPr>
              <a:defRPr sz="1400"/>
            </a:pPr>
            <a:r>
              <a:t>• 価格政策と資産最適化で560億円増益予想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645920"/>
            <a:ext cx="384048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CC0000"/>
                </a:solidFill>
              </a:defRPr>
            </a:pPr>
            <a:r>
              <a:t>住友化学</a:t>
            </a:r>
          </a:p>
          <a:p>
            <a:pPr>
              <a:spcAft>
                <a:spcPts val="800"/>
              </a:spcAft>
              <a:defRPr sz="1400"/>
            </a:pPr>
            <a:r>
              <a:t>• 医薬品・農薬事業に強み</a:t>
            </a:r>
          </a:p>
          <a:p>
            <a:pPr>
              <a:spcAft>
                <a:spcPts val="800"/>
              </a:spcAft>
              <a:defRPr sz="1400"/>
            </a:pPr>
            <a:r>
              <a:t>• 医薬品事業が利益の稼ぎ頭</a:t>
            </a:r>
          </a:p>
          <a:p>
            <a:pPr>
              <a:spcAft>
                <a:spcPts val="800"/>
              </a:spcAft>
              <a:defRPr sz="1400"/>
            </a:pPr>
            <a:r>
              <a:t>• 情報電子化学部門も主力事業</a:t>
            </a:r>
          </a:p>
          <a:p>
            <a:pPr>
              <a:defRPr sz="1400"/>
            </a:pPr>
            <a:r>
              <a:t>• 構造改革を推進中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384048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9933"/>
                </a:solidFill>
              </a:defRPr>
            </a:pPr>
            <a:r>
              <a:t>旭化成</a:t>
            </a:r>
          </a:p>
          <a:p>
            <a:pPr>
              <a:spcAft>
                <a:spcPts val="800"/>
              </a:spcAft>
              <a:defRPr sz="1400"/>
            </a:pPr>
            <a:r>
              <a:t>• 住宅から医療まで多角経営</a:t>
            </a:r>
          </a:p>
          <a:p>
            <a:pPr>
              <a:spcAft>
                <a:spcPts val="800"/>
              </a:spcAft>
              <a:defRPr sz="1400"/>
            </a:pPr>
            <a:r>
              <a:t>• 引き続き最高益を更新見通し</a:t>
            </a:r>
          </a:p>
          <a:p>
            <a:pPr>
              <a:spcAft>
                <a:spcPts val="800"/>
              </a:spcAft>
              <a:defRPr sz="1400"/>
            </a:pPr>
            <a:r>
              <a:t>• 売上・収益性向上で成長</a:t>
            </a:r>
          </a:p>
          <a:p>
            <a:pPr>
              <a:defRPr sz="1400"/>
            </a:pPr>
            <a:r>
              <a:t>• 2026年4月：旭化成エポキシと合併予定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3931920"/>
            <a:ext cx="384048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663399"/>
                </a:solidFill>
              </a:defRPr>
            </a:pPr>
            <a:r>
              <a:t>その他主要メーカー</a:t>
            </a:r>
          </a:p>
          <a:p>
            <a:pPr>
              <a:spcAft>
                <a:spcPts val="800"/>
              </a:spcAft>
              <a:defRPr sz="1400"/>
            </a:pPr>
            <a:r>
              <a:t>• 信越化学工業：シリコン・半導体</a:t>
            </a:r>
          </a:p>
          <a:p>
            <a:pPr>
              <a:spcAft>
                <a:spcPts val="800"/>
              </a:spcAft>
              <a:defRPr sz="1400"/>
            </a:pPr>
            <a:r>
              <a:t>• 三井化学：機能性材料に強み</a:t>
            </a:r>
          </a:p>
          <a:p>
            <a:pPr>
              <a:defRPr sz="1400"/>
            </a:pPr>
            <a:r>
              <a:t>• カネカ：機能性樹脂・医薬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グローバル大手化学メーカー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66CC"/>
                </a:solidFill>
              </a:defRPr>
            </a:pPr>
            <a:r>
              <a:t>BASF（ドイツ）</a:t>
            </a:r>
          </a:p>
          <a:p>
            <a:pPr>
              <a:spcAft>
                <a:spcPts val="600"/>
              </a:spcAft>
              <a:defRPr sz="1600"/>
            </a:pPr>
            <a:r>
              <a:t>• 世界最大級の総合化学メーカー（1865年設立）</a:t>
            </a:r>
          </a:p>
          <a:p>
            <a:pPr>
              <a:spcAft>
                <a:spcPts val="600"/>
              </a:spcAft>
              <a:defRPr sz="1600"/>
            </a:pPr>
            <a:r>
              <a:t>• 2023年度売上高：689億ユーロ（約10.3兆円）</a:t>
            </a:r>
          </a:p>
          <a:p>
            <a:pPr>
              <a:defRPr sz="1600"/>
            </a:pPr>
            <a:r>
              <a:t>• 主要事業：サーフェステクノロジー（触媒・コーティング）、マテリアル（先端材料・プラスチック）、農薬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82296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CC0000"/>
                </a:solidFill>
              </a:defRPr>
            </a:pPr>
            <a:r>
              <a:t>Dow（米国）</a:t>
            </a:r>
          </a:p>
          <a:p>
            <a:pPr>
              <a:spcAft>
                <a:spcPts val="600"/>
              </a:spcAft>
              <a:defRPr sz="1600"/>
            </a:pPr>
            <a:r>
              <a:t>• 世界最大級の総合化学メーカー（1897年設立）</a:t>
            </a:r>
          </a:p>
          <a:p>
            <a:pPr>
              <a:spcAft>
                <a:spcPts val="600"/>
              </a:spcAft>
              <a:defRPr sz="1600"/>
            </a:pPr>
            <a:r>
              <a:t>• 2019年にDowDuPontから素材事業として分社化</a:t>
            </a:r>
          </a:p>
          <a:p>
            <a:pPr>
              <a:defRPr sz="1600"/>
            </a:pPr>
            <a:r>
              <a:t>• 主要事業：包装材料、インフラストラクチャ、消費財向け材料科学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9933"/>
                </a:solidFill>
              </a:defRPr>
            </a:pPr>
            <a:r>
              <a:t>DuPont（米国）</a:t>
            </a:r>
          </a:p>
          <a:p>
            <a:pPr>
              <a:spcAft>
                <a:spcPts val="600"/>
              </a:spcAft>
              <a:defRPr sz="1600"/>
            </a:pPr>
            <a:r>
              <a:t>• 世界最大級の化学メーカー（1802年設立）</a:t>
            </a:r>
          </a:p>
          <a:p>
            <a:pPr>
              <a:spcAft>
                <a:spcPts val="600"/>
              </a:spcAft>
              <a:defRPr sz="1600"/>
            </a:pPr>
            <a:r>
              <a:t>• 2019年にDowDuPontから特殊産業材事業として分社化</a:t>
            </a:r>
          </a:p>
          <a:p>
            <a:pPr>
              <a:defRPr sz="1600"/>
            </a:pPr>
            <a:r>
              <a:t>• 2025年8月：ケブラー・ノーメックスを含むアラミド事業を約18億ドルで売却決定（2026年Q1完了予定）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化学業界のM&amp;A動向（2024-2025年）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0066CC"/>
                </a:solidFill>
              </a:defRPr>
            </a:pPr>
            <a:r>
              <a:t>市場環境</a:t>
            </a:r>
          </a:p>
          <a:p>
            <a:pPr>
              <a:spcAft>
                <a:spcPts val="1000"/>
              </a:spcAft>
              <a:defRPr sz="1600"/>
            </a:pPr>
            <a:r>
              <a:t>• 2024年第3四半期：M&amp;A取引は引き続き減少傾向（マクロ経済の不確実性が影響）</a:t>
            </a:r>
          </a:p>
          <a:p>
            <a:pPr>
              <a:spcAft>
                <a:spcPts val="2000"/>
              </a:spcAft>
              <a:defRPr sz="1600"/>
            </a:pPr>
            <a:r>
              <a:t>• 2024年通年：短期金利の低下を背景に前年比で取引件数がわずかに増加</a:t>
            </a:r>
          </a:p>
          <a:p>
            <a:pPr>
              <a:spcAft>
                <a:spcPts val="1200"/>
              </a:spcAft>
              <a:defRPr sz="2400" b="1">
                <a:solidFill>
                  <a:srgbClr val="0066CC"/>
                </a:solidFill>
              </a:defRPr>
            </a:pPr>
            <a:r>
              <a:t>主要トレンド</a:t>
            </a:r>
          </a:p>
          <a:p>
            <a:pPr>
              <a:spcAft>
                <a:spcPts val="800"/>
              </a:spcAft>
              <a:defRPr sz="1600"/>
            </a:pPr>
            <a:r>
              <a:t>1. 製品ポートフォリオの多角化とグローバル展開の加速</a:t>
            </a:r>
          </a:p>
          <a:p>
            <a:pPr>
              <a:spcAft>
                <a:spcPts val="800"/>
              </a:spcAft>
              <a:defRPr sz="1600"/>
            </a:pPr>
            <a:r>
              <a:t>2. 現地・地域事業者買収によるローカルサプライチェーンの確立</a:t>
            </a:r>
          </a:p>
          <a:p>
            <a:pPr>
              <a:spcAft>
                <a:spcPts val="800"/>
              </a:spcAft>
              <a:defRPr sz="1600"/>
            </a:pPr>
            <a:r>
              <a:t>3. サステナビリティ重視：グリーンテクノロジー、リサイクル、再生可能エネルギー</a:t>
            </a:r>
          </a:p>
          <a:p>
            <a:pPr>
              <a:defRPr sz="1600"/>
            </a:pPr>
            <a:r>
              <a:t>4. ノンコア資産売却による事業ポートフォリオの最適化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主要M&amp;A事例（2024年）- 日本企業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82296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66CC"/>
                </a:solidFill>
              </a:defRPr>
            </a:pPr>
            <a:r>
              <a:t>日本ペイントホールディングス → AOC買収</a:t>
            </a:r>
          </a:p>
          <a:p>
            <a:pPr>
              <a:defRPr sz="1600"/>
            </a:pPr>
            <a:r>
              <a:t>• 買収金額：約6,300億円（約435億ドル）</a:t>
            </a:r>
          </a:p>
          <a:p>
            <a:pPr>
              <a:defRPr sz="1600"/>
            </a:pPr>
            <a:r>
              <a:t>• 概要：米国化学メーカーAOCを買収。コーティング材料原料で高シェア、高収益性を実現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82296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66CC"/>
                </a:solidFill>
              </a:defRPr>
            </a:pPr>
            <a:r>
              <a:t>信越化学工業 → 三益半導体工業の完全子会社化</a:t>
            </a:r>
          </a:p>
          <a:p>
            <a:pPr>
              <a:defRPr sz="1600"/>
            </a:pPr>
            <a:r>
              <a:t>• 時期：2024年4月</a:t>
            </a:r>
          </a:p>
          <a:p>
            <a:pPr>
              <a:defRPr sz="1600"/>
            </a:pPr>
            <a:r>
              <a:t>• 概要：TOBにより三益半導体工業を完全子会社化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206240"/>
            <a:ext cx="82296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66CC"/>
                </a:solidFill>
              </a:defRPr>
            </a:pPr>
            <a:r>
              <a:t>出光興産 → アグロカネショウ買収</a:t>
            </a:r>
          </a:p>
          <a:p>
            <a:pPr>
              <a:defRPr sz="1600"/>
            </a:pPr>
            <a:r>
              <a:t>• 完了：2024年12月24日</a:t>
            </a:r>
          </a:p>
          <a:p>
            <a:pPr>
              <a:defRPr sz="1600"/>
            </a:pPr>
            <a:r>
              <a:t>• 概要：農薬メーカーのアグロカネショウをTOBにより買収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486400"/>
            <a:ext cx="82296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66CC"/>
                </a:solidFill>
              </a:defRPr>
            </a:pPr>
            <a:r>
              <a:t>カネカ → EndoStream Medical買収</a:t>
            </a:r>
          </a:p>
          <a:p>
            <a:pPr>
              <a:defRPr sz="1600"/>
            </a:pPr>
            <a:r>
              <a:t>• 完了：2024年12月23日</a:t>
            </a:r>
          </a:p>
          <a:p>
            <a:pPr>
              <a:defRPr sz="1600"/>
            </a:pPr>
            <a:r>
              <a:t>• 概要：イスラエルのEndoStream Medical Ltd.の株式96.8%を取得し子会社化（医療機器分野）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事業売却・構造改革（2024年）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CC0000"/>
                </a:solidFill>
              </a:defRPr>
            </a:pPr>
            <a:r>
              <a:t>住友化学の構造改革</a:t>
            </a:r>
          </a:p>
          <a:p>
            <a:pPr>
              <a:spcAft>
                <a:spcPts val="800"/>
              </a:spcAft>
              <a:defRPr sz="1600"/>
            </a:pPr>
            <a:r>
              <a:t>• Pace Internationalを米AgFresh Solutionsに売却（2024年3月）</a:t>
            </a:r>
          </a:p>
          <a:p>
            <a:pPr>
              <a:spcAft>
                <a:spcPts val="800"/>
              </a:spcAft>
              <a:defRPr sz="1600"/>
            </a:pPr>
            <a:r>
              <a:t>• 中国のLCD偏光フィルム事業を湖北力佑光電科技に譲渡</a:t>
            </a:r>
          </a:p>
          <a:p>
            <a:pPr>
              <a:spcAft>
                <a:spcPts val="2400"/>
              </a:spcAft>
              <a:defRPr sz="1600"/>
            </a:pPr>
            <a:r>
              <a:t>• 住友化学園芸を大日本除虫菊に売却</a:t>
            </a:r>
          </a:p>
          <a:p>
            <a:pPr>
              <a:spcAft>
                <a:spcPts val="1200"/>
              </a:spcAft>
              <a:defRPr sz="2400" b="1">
                <a:solidFill>
                  <a:srgbClr val="0066CC"/>
                </a:solidFill>
              </a:defRPr>
            </a:pPr>
            <a:r>
              <a:t>その他の主要案件</a:t>
            </a:r>
          </a:p>
          <a:p>
            <a:pPr>
              <a:spcAft>
                <a:spcPts val="800"/>
              </a:spcAft>
              <a:defRPr sz="1600"/>
            </a:pPr>
            <a:r>
              <a:t>• 田中藍ホールディングス：活材ケミカル（三井化学の子会社）を買収（2024年7月）</a:t>
            </a:r>
          </a:p>
          <a:p>
            <a:pPr>
              <a:defRPr sz="1600"/>
            </a:pPr>
            <a:r>
              <a:t>• 昭光ハイポリマー：高分子商事の全株式を取得（2024年8月）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2025-2026年の展望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0066CC"/>
                </a:solidFill>
              </a:defRPr>
            </a:pPr>
            <a:r>
              <a:t>M&amp;A市場の見通し</a:t>
            </a:r>
          </a:p>
          <a:p>
            <a:pPr>
              <a:spcAft>
                <a:spcPts val="800"/>
              </a:spcAft>
              <a:defRPr sz="1600"/>
            </a:pPr>
            <a:r>
              <a:t>• 金利のさらなる低下・安定化により、M&amp;Aの急増が期待される</a:t>
            </a:r>
          </a:p>
          <a:p>
            <a:pPr>
              <a:spcAft>
                <a:spcPts val="2400"/>
              </a:spcAft>
              <a:defRPr sz="1600"/>
            </a:pPr>
            <a:r>
              <a:t>• 企業は新製品発売とノンコア資産売却を通じたポートフォリオ再構築を加速</a:t>
            </a:r>
          </a:p>
          <a:p>
            <a:pPr>
              <a:spcAft>
                <a:spcPts val="1200"/>
              </a:spcAft>
              <a:defRPr sz="2400" b="1">
                <a:solidFill>
                  <a:srgbClr val="0066CC"/>
                </a:solidFill>
              </a:defRPr>
            </a:pPr>
            <a:r>
              <a:t>予定されている主要案件</a:t>
            </a:r>
          </a:p>
          <a:p>
            <a:pPr>
              <a:spcAft>
                <a:spcPts val="800"/>
              </a:spcAft>
              <a:defRPr sz="1600"/>
            </a:pPr>
            <a:r>
              <a:t>• 大陽日酸：レゾナックグループから排ガス処理装置事業を取得（2025年6月完了予定）</a:t>
            </a:r>
          </a:p>
          <a:p>
            <a:pPr>
              <a:spcAft>
                <a:spcPts val="800"/>
              </a:spcAft>
              <a:defRPr sz="1600"/>
            </a:pPr>
            <a:r>
              <a:t>• 大日本塗料：神東塗料の株式約46%を取得（TOB終了：2025年3月10日）</a:t>
            </a:r>
          </a:p>
          <a:p>
            <a:pPr>
              <a:spcAft>
                <a:spcPts val="800"/>
              </a:spcAft>
              <a:defRPr sz="1600"/>
            </a:pPr>
            <a:r>
              <a:t>• 旭化成：旭化成エポキシと合併（2026年4月1日予定）</a:t>
            </a:r>
          </a:p>
          <a:p>
            <a:pPr>
              <a:defRPr sz="1600"/>
            </a:pPr>
            <a:r>
              <a:t>• DuPont：アラミド事業売却完了（2026年Q1予定、約18億ドル）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まとめ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0066CC"/>
                </a:solidFill>
              </a:defRPr>
            </a:pPr>
            <a:r>
              <a:t>業界の主要トレンド</a:t>
            </a:r>
          </a:p>
          <a:p>
            <a:pPr>
              <a:spcAft>
                <a:spcPts val="1000"/>
              </a:spcAft>
              <a:defRPr sz="1600"/>
            </a:pPr>
            <a:r>
              <a:t>1. ポートフォリオ最適化：各社がノンコア事業を売却し、成長分野に資源を集中</a:t>
            </a:r>
          </a:p>
          <a:p>
            <a:pPr>
              <a:spcAft>
                <a:spcPts val="1000"/>
              </a:spcAft>
              <a:defRPr sz="1600"/>
            </a:pPr>
            <a:r>
              <a:t>2. グローバル展開：M&amp;Aを通じた海外市場への進出と現地化の推進</a:t>
            </a:r>
          </a:p>
          <a:p>
            <a:pPr>
              <a:spcAft>
                <a:spcPts val="1000"/>
              </a:spcAft>
              <a:defRPr sz="1600"/>
            </a:pPr>
            <a:r>
              <a:t>3. サステナビリティ：グリーン技術、再生可能エネルギーへの投資が活発化</a:t>
            </a:r>
          </a:p>
          <a:p>
            <a:pPr>
              <a:spcAft>
                <a:spcPts val="1000"/>
              </a:spcAft>
              <a:defRPr sz="1600"/>
            </a:pPr>
            <a:r>
              <a:t>4. 構造改革：特に日本企業で石化不況を受けた事業再編が進行中</a:t>
            </a:r>
          </a:p>
          <a:p>
            <a:pPr>
              <a:defRPr sz="1600"/>
            </a:pPr>
            <a:r>
              <a:t>5. 金利環境の改善：2025年以降、M&amp;A市場の回復・拡大が期待される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